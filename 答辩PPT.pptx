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66" r:id="rId4"/>
    <p:sldId id="257" r:id="rId5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本次汇报分为五个部分：首先介绍研究背景与意义，然后是系统方案设计和数据资源构建，接着重点讲解系统实现与功能，最后是测试调试和总结展望。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机器人焊接是高端制造业的核心工艺，但传统焊后检测存在滞后性强、效率低、成本高三大痛点。本系统运用三个课程技术方向，通过机器学习实现焊前缺陷预测，将质量控制从"事后检测"转变为"事前预警"。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系统采用B/S三层架构。表示层负责用户交互和可视化，业务逻辑层基于Flask提供RESTful API并承载随机森林预测和参数优化，数据层使用SQLite存储记录和模型文件。技术选型遵循轻量级、易部署原则，前后端通过HTTP API通信。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数据集来自Mendeley Data平台，共300个样本，包含7项焊接工艺参数和二分类缺陷标签。预处理采用归一化消除量纲差异，按7:3分层抽样划分训练集和测试集，保证正负样本比例一致。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算法核心是随机森林分类模型，100棵决策树集成。在90条测试集上准确率62.2%，召回率65.9%高于精确率，符合质量控制场景需求。特征重要性分析显示电弧电压影响最大（16.3%），各参数分布均匀，说明缺陷是多因素耦合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实现了四大核心功能：智能缺陷预测采用三级风险判定，避免非黑即白；参数优化建议用坐标下降法搜索最优参数，一键应用后缺陷概率可大幅降低；批量预测支持CSV导入，历史记录按批次折叠管理；数据分析区自动生成智能工艺建议。后端基于Flask提供9个API接口，前端采用三分区Tab布局，数据用SQLite持久化存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编写了18个pytest自动化测试用例，覆盖全部9个API接口和数据库操作，全部通过。集成测试验证了正常参数低风险（概率11%）、异常参数高风险（概率86%）。开发过程中解决了三个典型问题：非JSON请求处理、特征名映射、批量预测列名兼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课程设计完成了从数据处理、模型训练到全栈系统开发的完整流程，18项测试全部通过。不足之处在于数据集规模较小、模型准确率有待提升、仅支持二分类。未来计划采集真实数据、尝试更多模型、扩展多分类识别并接入实时监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以上是我的全部汇报内容，感谢各位老师的聆听，恳请批评指正。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4826000" cy="6858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540000"/>
            <a:ext cx="762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制造智能技术课程设计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智造24.1 李旺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202412020108</a:t>
            </a:r>
            <a:endParaRPr lang="en-US" sz="1100" b="0" i="0" u="none" strike="noStrike">
              <a:solidFill>
                <a:srgbClr val="FFFFFF">
                  <a:alpha val="5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334000" y="1905000"/>
            <a:ext cx="635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基于焊接工艺参数的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3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机器人焊接缺陷</a:t>
            </a:r>
            <a:endParaRPr lang="en-US" sz="3800" b="1" i="0" u="none" strike="noStrike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3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智能预测系统</a:t>
            </a:r>
            <a:endParaRPr lang="en-US" sz="3800" b="1" i="0" u="none" strike="noStrike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334000" y="4191000"/>
            <a:ext cx="635000" cy="254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334000" y="4445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Robotic Welding Defect Intelligent Prediction System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334000" y="54610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汇报人：李旺 班级：智造24.1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学号：202412020108 课程：制造智能技术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159000"/>
            <a:ext cx="381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5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CONTENTS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270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r>
              <a:rPr lang="en-US" sz="16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研究背景与意义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焊接质量监控痛点与智能化需求</a:t>
            </a:r>
            <a:endParaRPr lang="en-US" sz="1100" b="0" i="0" u="none" strike="noStrike">
              <a:solidFill>
                <a:srgbClr val="64748B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7161">
            <a:off x="5334007" y="2089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334000" y="2286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r>
              <a:rPr lang="en-US" sz="16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系统方案设计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技术选型、B/S架构与API设计</a:t>
            </a:r>
            <a:endParaRPr lang="en-US" sz="1100" b="0" i="0" u="none" strike="noStrike">
              <a:solidFill>
                <a:srgbClr val="64748B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7161">
            <a:off x="5334007" y="3105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334000" y="3302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r>
              <a:rPr lang="en-US" sz="16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数据资源构建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公开数据集、预处理与数据集划分</a:t>
            </a:r>
            <a:endParaRPr lang="en-US" sz="1100" b="0" i="0" u="none" strike="noStrike">
              <a:solidFill>
                <a:srgbClr val="64748B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7161">
            <a:off x="5334007" y="4121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334000" y="4318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r>
              <a:rPr lang="en-US" sz="16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系统实现与功能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算法模块、后端接口、前端交互</a:t>
            </a:r>
            <a:endParaRPr lang="en-US" sz="1100" b="0" i="0" u="none" strike="noStrike">
              <a:solidFill>
                <a:srgbClr val="64748B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7161">
            <a:off x="5334007" y="5137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334000" y="5334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r>
              <a:rPr lang="en-US" sz="16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测试调试与总结展望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自动化测试、问题修复、未来方向</a:t>
            </a:r>
            <a:endParaRPr lang="en-US" sz="1100" b="0" i="0" u="none" strike="noStrike">
              <a:solidFill>
                <a:srgbClr val="64748B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/ 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机器人焊接是汽车制造、航空航天等高端制造业的核心工艺。电弧电压、焊接电流、焊接速度等7项参数的微小波动，都可能导致气孔、未熔合、飞溅等缺陷。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327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传统检测的三大痛点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7084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滞后性强：焊后检测，缺陷已产生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效率低下：依赖人工目视，难以实时监控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成本高昂：无损检测设备昂贵，需专业人员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本系统解决方案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5245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基于机器学习的焊前缺陷预测，实现质量前置控制，辅助工艺人员及时调整参数。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1397000"/>
            <a:ext cx="4572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112000" y="1651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核心技术方向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742">
            <a:off x="7112010" y="2089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112000" y="2286000"/>
            <a:ext cx="4064000" cy="762000"/>
          </a:xfrm>
          <a:prstGeom prst="roundRect">
            <a:avLst>
              <a:gd name="adj" fmla="val 0"/>
            </a:avLst>
          </a:prstGeom>
          <a:solidFill>
            <a:srgbClr val="0D1B2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112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302500" y="2438400"/>
            <a:ext cx="457200" cy="457200"/>
          </a:xfrm>
          <a:prstGeom prst="ellipse">
            <a:avLst/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37500" y="2349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数据预处理与特征工程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数据归一化处理，训练集与测试集划分</a:t>
            </a:r>
            <a:endParaRPr lang="en-US" sz="1300" b="0" i="0" u="none" strike="noStrike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112000" y="3238500"/>
            <a:ext cx="4064000" cy="762000"/>
          </a:xfrm>
          <a:prstGeom prst="roundRect">
            <a:avLst>
              <a:gd name="adj" fmla="val 0"/>
            </a:avLst>
          </a:prstGeom>
          <a:solidFill>
            <a:srgbClr val="C9A66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12000" y="3238500"/>
            <a:ext cx="50800" cy="7620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302500" y="3390900"/>
            <a:ext cx="457200" cy="457200"/>
          </a:xfrm>
          <a:prstGeom prst="ellipse">
            <a:avLst/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937500" y="3302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监督学习分类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随机森林模型，二分类预测缺陷</a:t>
            </a:r>
            <a:endParaRPr lang="en-US" sz="1300" b="0" i="0" u="none" strike="noStrike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112000" y="4191000"/>
            <a:ext cx="4064000" cy="762000"/>
          </a:xfrm>
          <a:prstGeom prst="roundRect">
            <a:avLst>
              <a:gd name="adj" fmla="val 0"/>
            </a:avLst>
          </a:prstGeom>
          <a:solidFill>
            <a:srgbClr val="64748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112000" y="4191000"/>
            <a:ext cx="50800" cy="7620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302500" y="4343400"/>
            <a:ext cx="457200" cy="457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37500" y="4254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数据可视化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ECharts特征重要性图与分布饼图</a:t>
            </a:r>
            <a:endParaRPr lang="en-US" sz="1300" b="0" i="0" u="none" strike="noStrike">
              <a:solidFill>
                <a:srgbClr val="0D1B2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112000" y="5461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三个技术方向均直接参与系统核心业务逻辑，非装饰性引入。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/ 研究背景与意义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系统方案设计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技术选型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714500"/>
          <a:ext cx="4826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397000"/>
                <a:gridCol w="2286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选型理由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HTML+ECharts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                  轻量，图表丰富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后端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Python Flask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                与sk learn无缝集成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SQLite 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                    轻量，无需部署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scikit-learn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                      课程标准库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随机森林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                  抗过拟合，可解释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350000" y="1333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B/S 三层架构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714500"/>
            <a:ext cx="5080000" cy="889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1879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表示层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095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浏览器端 · 参数输入 · 结果展示 · ECharts可视化 · 历史记录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228255">
            <a:off x="8763000" y="2724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2" name="AutoShape 12"/>
          <p:cNvSpPr/>
          <p:nvPr/>
        </p:nvSpPr>
        <p:spPr>
          <a:xfrm>
            <a:off x="6350000" y="2857500"/>
            <a:ext cx="5080000" cy="889000"/>
          </a:xfrm>
          <a:prstGeom prst="roundRect">
            <a:avLst>
              <a:gd name="adj" fmla="val 0"/>
            </a:avLst>
          </a:prstGeom>
          <a:solidFill>
            <a:srgbClr val="C9A66B">
              <a:alpha val="15000"/>
            </a:srgbClr>
          </a:solidFill>
          <a:ln w="12700" cap="flat" cmpd="sng">
            <a:solidFill>
              <a:srgbClr val="C9A6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30226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业务逻辑层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3238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Flask服务 · RESTful API · 随机森林预测 · 参数优化 · 批量处理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228255">
            <a:off x="8763000" y="38673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9A66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6350000" y="4000500"/>
            <a:ext cx="508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41656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381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SQLite数据库 · 预测记录持久化 · 模型文件 · 标准化器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D1B2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3086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设计原则：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前后端分离，通过HTTP API通信；轻量级架构，一键启动无需复杂部署；模型与标准化器预加载，预测响应时间小于100ms。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/ 系统方案设计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数据资源构建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数据集来源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Mendeley Data 公开数据集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Simulated Dataset for Edge-Based Defect Prediction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DOI: 10.17632/ndcns86bzt.1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发布时间：2025年7月，Version 1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300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7625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样本总数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9370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83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47625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工艺参数特征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397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7项工艺参数特征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电弧电压 (V) </a:t>
            </a: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焊接电流 (A)</a:t>
            </a:r>
            <a:endParaRPr lang="en-US" sz="1100"/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焊接速度 (cm/min) </a:t>
            </a: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送丝速度 (m/min)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气体流量 (L/min) </a:t>
            </a: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焊枪角度 (°)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2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●</a:t>
            </a: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母材温度 (°C)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C9A66B">
              <a:alpha val="8000"/>
            </a:srgbClr>
          </a:solidFill>
          <a:ln w="12700" cap="flat" cmpd="sng">
            <a:solidFill>
              <a:srgbClr val="C9A66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2324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数据预处理流程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5626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数据归一化处理（统一量纲） → 7:3分层抽样划分（训练集210 / 测试集90） → 保留正负样本比例一致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 / 数据资源构建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算法模块：随机森林分类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413000" cy="1016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524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62.2%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057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准确率 Accuracy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2413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730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65.9%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2639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召回率 Recall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2413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3937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60.4%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44704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精确率 Precision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16500"/>
            <a:ext cx="2413000" cy="1016000"/>
          </a:xfrm>
          <a:prstGeom prst="roundRect">
            <a:avLst>
              <a:gd name="adj" fmla="val 0"/>
            </a:avLst>
          </a:prstGeom>
          <a:solidFill>
            <a:srgbClr val="C9A66B">
              <a:alpha val="15000"/>
            </a:srgbClr>
          </a:solidFill>
          <a:ln w="12700" cap="flat" cmpd="sng">
            <a:solidFill>
              <a:srgbClr val="C9A6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5143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63.0%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56769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F1-Score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0" y="1397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混淆矩阵（测试集90条）</a:t>
            </a:r>
            <a:endParaRPr lang="en-US" sz="1100"/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3810000" y="1778000"/>
          <a:ext cx="3556000" cy="152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270000"/>
                <a:gridCol w="1270000"/>
              </a:tblGrid>
              <a:tr h="381000">
                <a:tc>
                  <a:txBody>
                    <a:bodyPr rtlCol="0"/>
                    <a:lstStyle/>
                    <a:p>
                      <a:pPr algn="ctr">
                        <a:defRPr/>
                      </a:p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预测正常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预测缺陷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实际正常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C9A6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A66B">
                        <a:alpha val="15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实际缺陷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C9A6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A66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AutoShape 19"/>
          <p:cNvSpPr/>
          <p:nvPr/>
        </p:nvSpPr>
        <p:spPr>
          <a:xfrm>
            <a:off x="7874000" y="1397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特征重要性 Top5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74000" y="1841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电弧电压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63000" y="1866900"/>
            <a:ext cx="2070100" cy="1778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896600" y="18415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16.3%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74000" y="21590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焊枪角度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63000" y="2184400"/>
            <a:ext cx="1968500" cy="177800"/>
          </a:xfrm>
          <a:prstGeom prst="roundRect">
            <a:avLst>
              <a:gd name="adj" fmla="val 0"/>
            </a:avLst>
          </a:prstGeom>
          <a:solidFill>
            <a:srgbClr val="0D1B2A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795000" y="21590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15.6%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874000" y="2476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送丝速度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763000" y="2501900"/>
            <a:ext cx="1905000" cy="177800"/>
          </a:xfrm>
          <a:prstGeom prst="roundRect">
            <a:avLst>
              <a:gd name="adj" fmla="val 0"/>
            </a:avLst>
          </a:prstGeom>
          <a:solidFill>
            <a:srgbClr val="0D1B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731500" y="24765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15.1%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874000" y="27940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气体流量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763000" y="2819400"/>
            <a:ext cx="1803400" cy="177800"/>
          </a:xfrm>
          <a:prstGeom prst="roundRect">
            <a:avLst>
              <a:gd name="adj" fmla="val 0"/>
            </a:avLst>
          </a:prstGeom>
          <a:solidFill>
            <a:srgbClr val="0D1B2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629900" y="27940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14.2%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874000" y="31115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焊接电流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763000" y="3136900"/>
            <a:ext cx="1714500" cy="177800"/>
          </a:xfrm>
          <a:prstGeom prst="roundRect">
            <a:avLst>
              <a:gd name="adj" fmla="val 0"/>
            </a:avLst>
          </a:prstGeom>
          <a:solidFill>
            <a:srgbClr val="0D1B2A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541000" y="3111500"/>
            <a:ext cx="50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13.5%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810000" y="3810000"/>
            <a:ext cx="7620000" cy="762000"/>
          </a:xfrm>
          <a:prstGeom prst="roundRect">
            <a:avLst>
              <a:gd name="adj" fmla="val 0"/>
            </a:avLst>
          </a:prstGeom>
          <a:solidFill>
            <a:srgbClr val="0D1B2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4064000" y="3937000"/>
            <a:ext cx="711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召回率高于精确率，模型更倾向于识别缺陷样本，符合质量控制场景"宁可误报不可漏检"的需求。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各参数重要性分布均匀，说明焊接缺陷是多因素耦合的结果。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 / 算法模型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系统功能实现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49400"/>
            <a:ext cx="381000" cy="381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60500" y="1600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智能缺陷预测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032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随机森林模型输出缺陷概率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三级风险判定：低/中/高风险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避免非黑即白的绝对化结论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556000" y="1397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746500" y="1549400"/>
            <a:ext cx="381000" cy="381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54500" y="1600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参数优化建议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46500" y="2032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坐标下降法搜索最优参数组合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给出每项参数具体调整数值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一键应用，缺陷概率可降80%+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397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1549400"/>
            <a:ext cx="381000" cy="381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A66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48500" y="1600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批量预测与管理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032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CSV导入，支持中英文列名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历史记录按批次折叠展示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预测结果可导出CSV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144000" y="1397000"/>
            <a:ext cx="2540000" cy="1778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34500" y="1549400"/>
            <a:ext cx="381000" cy="3810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842500" y="1600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数据分析与建议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34500" y="2032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特征重要性柱状图+分布饼图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自动生成智能工艺建议</a:t>
            </a:r>
            <a:endParaRPr lang="en-US" sz="1000" b="0" i="0" u="none" strike="noStrike">
              <a:solidFill>
                <a:srgbClr val="FFFFFF">
                  <a:alpha val="8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历史记录统计与趋势分析</a:t>
            </a:r>
            <a:endParaRPr lang="en-US" sz="1000" b="0" i="0" u="none" strike="noStrike">
              <a:solidFill>
                <a:srgbClr val="FFFFFF">
                  <a:alpha val="8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3556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DCDC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3810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技术实现要点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2545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406900"/>
            <a:ext cx="292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后端：Flask + 9个API接口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7244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预测、优化、批量、历史、统计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特征重要性、智能建议、导出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健康检查、清空记录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445000" y="42545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35500" y="4406900"/>
            <a:ext cx="292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前端：三分区Tab布局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35500" y="47244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缺陷预测 / 数据分析 / 历史记录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ECharts可视化，实时参数校验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深蓝+琥珀金工业风设计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128000" y="4254500"/>
            <a:ext cx="330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18500" y="4406900"/>
            <a:ext cx="292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数据层：SQLite持久化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18500" y="47244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预测记录自动入库，批次标识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模型文件+标准化器本地加载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一键启动脚本，无需配置</a:t>
            </a:r>
            <a:endParaRPr lang="en-US" sz="10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62000" y="6223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 / 系统功能实现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测试与集成调试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2540000" cy="15240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18/18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自动化测试全部通过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测试覆盖模块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92500"/>
            <a:ext cx="254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模型加载与预测接口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参数校验与异常处理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参数优化建议接口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批量预测CSV导入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历史记录CRUD操作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特征重要性与统计接口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✓ 智能建议与导出功能</a:t>
            </a:r>
            <a:endParaRPr lang="en-US" sz="11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810000" y="133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集成测试验证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810000" y="1714500"/>
          <a:ext cx="3556000" cy="152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1143000"/>
                <a:gridCol w="1143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风险等级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缺陷概率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B2A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正常工艺参数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4C7A5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异常工艺参数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C9A6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高风险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C9A66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86%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3810000" y="3429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模型对正常与异常参数区分明显，三级风险判定符合预期。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133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调试问题与修复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874000" y="17145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64500" y="1841500"/>
            <a:ext cx="317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问题1：非JSON请求返回500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2095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修复：改用 get_json(silent=True)，空请求返回400而非500。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874000" y="2921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64500" y="3048000"/>
            <a:ext cx="317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问题2：特征名不匹配报错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3302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修复：引入feature_map.json映射原始列名，保留特征名。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74000" y="41275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64500" y="4254500"/>
            <a:ext cx="317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问题3：批量预测列名不识别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64500" y="4508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修复：扩展列名映射，支持中英文及多种命名变体。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 / 测试与集成调试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1B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572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41400"/>
            <a:ext cx="508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已完成工作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714500"/>
            <a:ext cx="508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B/S架构焊接缺陷预测系统全栈开发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随机森林模型，准确率62.2%，召回率65.9%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9个API接口，含优化、批量、智能建议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三级风险判定，工业风前端，ECharts可视化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18项自动化测试全部通过，集成验证正常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300" b="1" i="0" u="none" strike="noStrike">
                <a:solidFill>
                  <a:srgbClr val="C9A66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r>
              <a:rPr lang="en-US" sz="13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代码推送GitHub，一键启动脚本部署</a:t>
            </a:r>
            <a:endParaRPr lang="en-US" sz="13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9738">
            <a:off x="4210050" y="3454409"/>
            <a:ext cx="425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858000" y="133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不足之处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1714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数据集为合成数据，规模仅300条，泛化能力有限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准确率62.2%仍有提升空间，未做超参数调优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仅支持二分类，未区分气孔、未熔合等缺陷类型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0" y="3302000"/>
            <a:ext cx="4572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8000" y="3556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D1B2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未来展望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39370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→ 采集真实焊接工艺数据，扩充数据集规模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→ 尝试XGBoost、深度学习等模型，对比优化性能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→ 扩展多分类缺陷识别，支持缺陷类型细分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46566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→ 接入实时传感器数据，实现在线监控预警</a:t>
            </a:r>
            <a:endParaRPr lang="en-US" sz="1200" b="0" i="0" u="none" strike="noStrike">
              <a:solidFill>
                <a:srgbClr val="465667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6286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 / 总结与展望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88000" y="228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286000" y="266700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286000" y="3810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9A66B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THANK YOU FOR YOUR ATTENTION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4445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敬请各位老师批评指正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819900"/>
            <a:ext cx="12192000" cy="38100"/>
          </a:xfrm>
          <a:prstGeom prst="roundRect">
            <a:avLst>
              <a:gd name="adj" fmla="val 0"/>
            </a:avLst>
          </a:prstGeom>
          <a:solidFill>
            <a:srgbClr val="C9A66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2644</Words>
  <Application>WPS 演示</Application>
  <PresentationFormat/>
  <Paragraphs>363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李旺</cp:lastModifiedBy>
  <cp:revision>1</cp:revision>
  <dcterms:created xsi:type="dcterms:W3CDTF">2026-09-03T09:12:41Z</dcterms:created>
  <dcterms:modified xsi:type="dcterms:W3CDTF">2026-09-03T09:12:41Z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21AA1E5A08FC471FB6480D3DB4752276_12</vt:lpwstr>
  </property>
</Properties>
</file>