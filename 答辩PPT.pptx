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6"/>
  </p:notesMasterIdLst>
  <p:sldIdLst>
    <p:sldId id="266" r:id="rId4"/>
    <p:sldId id="257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74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74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本次汇报分为五个部分：首先介绍研究背景与意义，然后是系统方案设计和数据资源构建，接着重点讲解系统实现与功能，最后是测试调试和总结展望。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机器人焊接是高端制造业的核心工艺，但传统焊后检测存在滞后性强、效率低、成本高三大痛点。本系统运用三个课程技术方向，通过机器学习实现焊前缺陷预测，将质量控制从"事后检测"转变为"事前预警"。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系统采用B/S三层架构。表示层负责用户交互和可视化，业务逻辑层基于Flask提供RESTful API并承载随机森林预测和参数优化，数据层使用SQLite存储记录和模型文件。技术选型遵循轻量级、易部署原则，前后端通过HTTP API通信。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数据集来自Mendeley Data平台，共300个样本，包含7项焊接工艺参数和二分类缺陷标签。预处理采用归一化消除量纲差异，按7:3分层抽样划分训练集和测试集，保证正负样本比例一致。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算法核心是随机森林分类模型，100棵决策树集成。在90条测试集上准确率62.2%，召回率65.9%高于精确率，符合质量控制场景需求。特征重要性分析显示电弧电压影响最大（16.3%），各参数分布均匀，说明缺陷是多因素耦合结果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系统实现了四大核心功能：智能缺陷预测采用三级风险判定，避免非黑即白；参数优化建议用坐标下降法搜索最优参数，一键应用后缺陷概率可大幅降低；批量预测支持CSV导入，历史记录按批次折叠管理；数据分析区自动生成智能工艺建议。后端基于Flask提供9个API接口，前端采用三分区Tab布局，数据用SQLite持久化存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系统编写了18个pytest自动化测试用例，覆盖全部9个API接口和数据库操作，全部通过。集成测试验证了正常参数低风险（概率11%）、异常参数高风险（概率86%）。开发过程中解决了三个典型问题：非JSON请求处理、特征名映射、批量预测列名兼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课程设计完成了从数据处理、模型训练到全栈系统开发的完整流程，18项测试全部通过。不足之处在于数据集规模较小、模型准确率有待提升、仅支持二分类。未来计划采集真实数据、尝试更多模型、扩展多分类识别并接入实时监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以上是我的全部汇报内容，感谢各位老师的聆听，恳请批评指正。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0" Type="http://schemas.openxmlformats.org/officeDocument/2006/relationships/notesSlide" Target="../notesSlides/notesSlide6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2.xml"/><Relationship Id="rId18" Type="http://schemas.openxmlformats.org/officeDocument/2006/relationships/image" Target="../media/image3.png"/><Relationship Id="rId17" Type="http://schemas.openxmlformats.org/officeDocument/2006/relationships/image" Target="../media/image2.png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1" Type="http://schemas.openxmlformats.org/officeDocument/2006/relationships/notesSlide" Target="../notesSlides/notesSlide7.xml"/><Relationship Id="rId10" Type="http://schemas.openxmlformats.org/officeDocument/2006/relationships/slideLayout" Target="../slideLayouts/slideLayout12.xml"/><Relationship Id="rId1" Type="http://schemas.openxmlformats.org/officeDocument/2006/relationships/tags" Target="../tags/tag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0" y="0"/>
            <a:ext cx="4826000" cy="68580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2540000"/>
            <a:ext cx="762000" cy="381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3000375"/>
            <a:ext cx="355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0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制造智能技术课程设计</a:t>
            </a:r>
            <a:endParaRPr lang="en-US" sz="3600"/>
          </a:p>
        </p:txBody>
      </p:sp>
      <p:sp>
        <p:nvSpPr>
          <p:cNvPr id="6" name="AutoShape 6"/>
          <p:cNvSpPr/>
          <p:nvPr/>
        </p:nvSpPr>
        <p:spPr>
          <a:xfrm>
            <a:off x="5334000" y="1905000"/>
            <a:ext cx="6350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38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基于焊接工艺参数的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38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机器人焊接缺陷</a:t>
            </a:r>
            <a:endParaRPr lang="en-US" sz="3800" b="1" i="0" u="none" strike="noStrike">
              <a:solidFill>
                <a:srgbClr val="0D1B2A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38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智能预测系统</a:t>
            </a:r>
            <a:endParaRPr lang="en-US" sz="3800" b="1" i="0" u="none" strike="noStrike">
              <a:solidFill>
                <a:srgbClr val="0D1B2A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5334000" y="4191000"/>
            <a:ext cx="635000" cy="254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5334000" y="4445000"/>
            <a:ext cx="609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64748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Robotic Welding Defect Intelligent Prediction System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5334000" y="5461000"/>
            <a:ext cx="609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3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汇报人：李旺 班级：智造24.1</a:t>
            </a:r>
            <a:endParaRPr lang="en-US" sz="13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2159000"/>
            <a:ext cx="3810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92000"/>
              </a:lnSpc>
              <a:defRPr/>
            </a:pPr>
            <a:r>
              <a:rPr lang="en-US" sz="52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目 录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3556000"/>
            <a:ext cx="762000" cy="508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3810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4748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CONTENTS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334000" y="1270000"/>
            <a:ext cx="635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01</a:t>
            </a:r>
            <a:r>
              <a:rPr lang="en-US" sz="1600" b="0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研究背景与意义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焊接质量监控痛点与智能化需求</a:t>
            </a:r>
            <a:endParaRPr lang="en-US" sz="1100" b="0" i="0" u="none" strike="noStrike">
              <a:solidFill>
                <a:srgbClr val="64748B">
                  <a:alpha val="60000"/>
                </a:srgbClr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cxnSp>
        <p:nvCxnSpPr>
          <p:cNvPr id="7" name="Connector 7"/>
          <p:cNvCxnSpPr/>
          <p:nvPr/>
        </p:nvCxnSpPr>
        <p:spPr>
          <a:xfrm rot="-7161">
            <a:off x="5334007" y="2089150"/>
            <a:ext cx="609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5334000" y="2286000"/>
            <a:ext cx="635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02</a:t>
            </a:r>
            <a:r>
              <a:rPr lang="en-US" sz="1600" b="0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系统方案设计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技术选型、B/S架构与API设计</a:t>
            </a:r>
            <a:endParaRPr lang="en-US" sz="1100" b="0" i="0" u="none" strike="noStrike">
              <a:solidFill>
                <a:srgbClr val="64748B">
                  <a:alpha val="60000"/>
                </a:srgbClr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cxnSp>
        <p:nvCxnSpPr>
          <p:cNvPr id="9" name="Connector 9"/>
          <p:cNvCxnSpPr/>
          <p:nvPr/>
        </p:nvCxnSpPr>
        <p:spPr>
          <a:xfrm rot="-7161">
            <a:off x="5334007" y="3105150"/>
            <a:ext cx="609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5334000" y="3302000"/>
            <a:ext cx="635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03</a:t>
            </a:r>
            <a:r>
              <a:rPr lang="en-US" sz="1600" b="0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数据资源构建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公开数据集、预处理与数据集划分</a:t>
            </a:r>
            <a:endParaRPr lang="en-US" sz="1100" b="0" i="0" u="none" strike="noStrike">
              <a:solidFill>
                <a:srgbClr val="64748B">
                  <a:alpha val="60000"/>
                </a:srgbClr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cxnSp>
        <p:nvCxnSpPr>
          <p:cNvPr id="11" name="Connector 11"/>
          <p:cNvCxnSpPr/>
          <p:nvPr/>
        </p:nvCxnSpPr>
        <p:spPr>
          <a:xfrm rot="-7161">
            <a:off x="5334007" y="4121150"/>
            <a:ext cx="609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5334000" y="4318000"/>
            <a:ext cx="635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04</a:t>
            </a:r>
            <a:r>
              <a:rPr lang="en-US" sz="1600" b="0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系统实现与功能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算法模块、后端接口、前端交互</a:t>
            </a:r>
            <a:endParaRPr lang="en-US" sz="1100" b="0" i="0" u="none" strike="noStrike">
              <a:solidFill>
                <a:srgbClr val="64748B">
                  <a:alpha val="60000"/>
                </a:srgbClr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cxnSp>
        <p:nvCxnSpPr>
          <p:cNvPr id="13" name="Connector 13"/>
          <p:cNvCxnSpPr/>
          <p:nvPr/>
        </p:nvCxnSpPr>
        <p:spPr>
          <a:xfrm rot="-7161">
            <a:off x="5334007" y="5137150"/>
            <a:ext cx="609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5334000" y="5334000"/>
            <a:ext cx="635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05</a:t>
            </a:r>
            <a:r>
              <a:rPr lang="en-US" sz="1600" b="0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测试调试与总结展望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自动化测试、问题修复、未来方向</a:t>
            </a:r>
            <a:endParaRPr lang="en-US" sz="1100" b="0" i="0" u="none" strike="noStrike">
              <a:solidFill>
                <a:srgbClr val="64748B">
                  <a:alpha val="60000"/>
                </a:srgbClr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6286500"/>
            <a:ext cx="1066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02 / 目录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57200"/>
            <a:ext cx="635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研究背景与意义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041400"/>
            <a:ext cx="508000" cy="381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533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4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机器人焊接是汽车制造、航空航天等高端制造业的核心工艺。电弧电压、焊接电流、焊接速度等7项参数的微小波动，都可能导致气孔、未熔合、飞溅等缺陷。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3175000"/>
            <a:ext cx="5334000" cy="1524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016000" y="33274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传统检测的三大痛点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37084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滞后性强：焊后检测，缺陷已产生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效率低下：依赖人工目视，难以实时监控</a:t>
            </a:r>
            <a:endParaRPr lang="en-US" sz="12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成本高昂：无损检测设备昂贵，需专业人员</a:t>
            </a:r>
            <a:endParaRPr lang="en-US" sz="12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4953000"/>
            <a:ext cx="5334000" cy="12700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016000" y="5143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本系统解决方案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16000" y="5524500"/>
            <a:ext cx="482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85098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基于机器学习的焊前缺陷预测，实现质量前置控制，辅助工艺人员及时调整参数。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858000" y="1397000"/>
            <a:ext cx="4572000" cy="482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7112000" y="1651000"/>
            <a:ext cx="406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核心技术方向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10742">
            <a:off x="7112010" y="208915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7112000" y="2286000"/>
            <a:ext cx="4064000" cy="762000"/>
          </a:xfrm>
          <a:prstGeom prst="roundRect">
            <a:avLst>
              <a:gd name="adj" fmla="val 0"/>
            </a:avLst>
          </a:prstGeom>
          <a:solidFill>
            <a:srgbClr val="0D1B2A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7112000" y="2286000"/>
            <a:ext cx="50800" cy="7620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7302500" y="2438400"/>
            <a:ext cx="457200" cy="457200"/>
          </a:xfrm>
          <a:prstGeom prst="ellipse">
            <a:avLst/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01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937500" y="2349500"/>
            <a:ext cx="317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数据预处理与特征工程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数据归一化处理，训练集与测试集划分</a:t>
            </a:r>
            <a:endParaRPr lang="en-US" sz="1300" b="0" i="0" u="none" strike="noStrike">
              <a:solidFill>
                <a:srgbClr val="0D1B2A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7112000" y="3238500"/>
            <a:ext cx="4064000" cy="762000"/>
          </a:xfrm>
          <a:prstGeom prst="roundRect">
            <a:avLst>
              <a:gd name="adj" fmla="val 0"/>
            </a:avLst>
          </a:prstGeom>
          <a:solidFill>
            <a:srgbClr val="C9A66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7112000" y="3238500"/>
            <a:ext cx="50800" cy="7620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7302500" y="3390900"/>
            <a:ext cx="457200" cy="457200"/>
          </a:xfrm>
          <a:prstGeom prst="ellipse">
            <a:avLst/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02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937500" y="3302000"/>
            <a:ext cx="317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监督学习分类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随机森林模型，二分类预测缺陷</a:t>
            </a:r>
            <a:endParaRPr lang="en-US" sz="1300" b="0" i="0" u="none" strike="noStrike">
              <a:solidFill>
                <a:srgbClr val="0D1B2A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7112000" y="4191000"/>
            <a:ext cx="4064000" cy="762000"/>
          </a:xfrm>
          <a:prstGeom prst="roundRect">
            <a:avLst>
              <a:gd name="adj" fmla="val 0"/>
            </a:avLst>
          </a:prstGeom>
          <a:solidFill>
            <a:srgbClr val="64748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7112000" y="4191000"/>
            <a:ext cx="50800" cy="7620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7302500" y="4343400"/>
            <a:ext cx="457200" cy="457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03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937500" y="4254500"/>
            <a:ext cx="317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数据可视化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ECharts特征重要性图与分布饼图</a:t>
            </a:r>
            <a:endParaRPr lang="en-US" sz="1300" b="0" i="0" u="none" strike="noStrike">
              <a:solidFill>
                <a:srgbClr val="0D1B2A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7112000" y="54610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三个技术方向均直接参与系统核心业务逻辑，非装饰性引入。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62000" y="6286500"/>
            <a:ext cx="1066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03 / 研究背景与意义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57200"/>
            <a:ext cx="635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系统方案设计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041400"/>
            <a:ext cx="508000" cy="381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333500"/>
            <a:ext cx="254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技术选型</a:t>
            </a:r>
            <a:endParaRPr lang="en-US" sz="110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62000" y="1714500"/>
          <a:ext cx="4826000" cy="2540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143000"/>
                <a:gridCol w="1397000"/>
                <a:gridCol w="2286000"/>
              </a:tblGrid>
              <a:tr h="406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层次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技术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选型理由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</a:tr>
              <a:tr h="4191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4C7A5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前端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HTML+ECharts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                     轻量，图表丰富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191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4C7A5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后端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Python Flask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                   与sklearn无缝集成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191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4C7A5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数据库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SQLite 3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                       轻量，无需部署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191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4C7A5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算法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scikit-learn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                         课程标准库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572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4C7A5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随机森林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                     抗过拟合，可解释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AutoShape 7"/>
          <p:cNvSpPr/>
          <p:nvPr/>
        </p:nvSpPr>
        <p:spPr>
          <a:xfrm>
            <a:off x="6350000" y="1333500"/>
            <a:ext cx="254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B/S 三层架构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350000" y="1714500"/>
            <a:ext cx="5080000" cy="8890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6540500" y="1879600"/>
            <a:ext cx="127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表示层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540500" y="2095500"/>
            <a:ext cx="355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000" b="0" i="0" u="none" strike="noStrike">
                <a:solidFill>
                  <a:srgbClr val="FFFFFF">
                    <a:alpha val="8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浏览器端 · 参数输入 · 结果展示 · ECharts可视化 · 历史记录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5228255">
            <a:off x="8763000" y="2724309"/>
            <a:ext cx="25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12" name="AutoShape 12"/>
          <p:cNvSpPr/>
          <p:nvPr/>
        </p:nvSpPr>
        <p:spPr>
          <a:xfrm>
            <a:off x="6350000" y="2857500"/>
            <a:ext cx="5080000" cy="889000"/>
          </a:xfrm>
          <a:prstGeom prst="roundRect">
            <a:avLst>
              <a:gd name="adj" fmla="val 0"/>
            </a:avLst>
          </a:prstGeom>
          <a:solidFill>
            <a:srgbClr val="C9A66B">
              <a:alpha val="15000"/>
            </a:srgbClr>
          </a:solidFill>
          <a:ln w="12700" cap="flat" cmpd="sng">
            <a:solidFill>
              <a:srgbClr val="C9A66B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540500" y="3022600"/>
            <a:ext cx="152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业务逻辑层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540500" y="3238500"/>
            <a:ext cx="355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Flask服务 · RESTful API · 随机森林预测 · 参数优化 · 批量处理</a:t>
            </a:r>
            <a:endParaRPr lang="en-US" sz="1100"/>
          </a:p>
        </p:txBody>
      </p:sp>
      <p:cxnSp>
        <p:nvCxnSpPr>
          <p:cNvPr id="15" name="Connector 15"/>
          <p:cNvCxnSpPr/>
          <p:nvPr/>
        </p:nvCxnSpPr>
        <p:spPr>
          <a:xfrm rot="5228255">
            <a:off x="8763000" y="3867309"/>
            <a:ext cx="25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16" name="AutoShape 16"/>
          <p:cNvSpPr/>
          <p:nvPr/>
        </p:nvSpPr>
        <p:spPr>
          <a:xfrm>
            <a:off x="6350000" y="4000500"/>
            <a:ext cx="50800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540500" y="4165600"/>
            <a:ext cx="127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数据层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540500" y="4381500"/>
            <a:ext cx="355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SQLite数据库 · 预测记录持久化 · 模型文件 · 标准化器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5207000"/>
            <a:ext cx="10668000" cy="635000"/>
          </a:xfrm>
          <a:prstGeom prst="roundRect">
            <a:avLst>
              <a:gd name="adj" fmla="val 0"/>
            </a:avLst>
          </a:prstGeom>
          <a:solidFill>
            <a:srgbClr val="0D1B2A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1016000" y="5308600"/>
            <a:ext cx="1016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设计原则：</a:t>
            </a: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前后端分离，通过HTTP API通信；轻量级架构，一键启动无需复杂部署；模型与标准化器预加载，预测响应时间小于100ms。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62000" y="6286500"/>
            <a:ext cx="1066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04 / 系统方案设计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57200"/>
            <a:ext cx="635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数据资源构建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041400"/>
            <a:ext cx="508000" cy="381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3970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数据集来源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1968500"/>
            <a:ext cx="4572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85098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Mendeley Data 公开数据集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FFFFFF">
                    <a:alpha val="85098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Simulated Dataset for Edge-Based Defect Prediction</a:t>
            </a:r>
            <a:endParaRPr lang="en-US" sz="1200" b="0" i="0" u="none" strike="noStrike">
              <a:solidFill>
                <a:srgbClr val="FFFFFF">
                  <a:alpha val="85098"/>
                </a:srgbClr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FFFFFF">
                    <a:alpha val="85098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DOI: 10.17632/ndcns86bzt.1</a:t>
            </a:r>
            <a:endParaRPr lang="en-US" sz="1200" b="0" i="0" u="none" strike="noStrike">
              <a:solidFill>
                <a:srgbClr val="FFFFFF">
                  <a:alpha val="85098"/>
                </a:srgbClr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FFFFFF">
                    <a:alpha val="85098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发布时间：2025年7月，Version 1</a:t>
            </a:r>
            <a:endParaRPr lang="en-US" sz="1200" b="0" i="0" u="none" strike="noStrike">
              <a:solidFill>
                <a:srgbClr val="FFFFFF">
                  <a:alpha val="85098"/>
                </a:srgbClr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4064635"/>
            <a:ext cx="2286000" cy="951865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889000" y="4108450"/>
            <a:ext cx="203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300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889000" y="47625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样本总数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556000" y="4064635"/>
            <a:ext cx="2286000" cy="951865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3683000" y="4108450"/>
            <a:ext cx="203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7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683000" y="47625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工艺参数特征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350000" y="1397000"/>
            <a:ext cx="254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7项工艺参数特征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1778000"/>
            <a:ext cx="5080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83000"/>
              </a:lnSpc>
              <a:defRPr/>
            </a:pPr>
            <a:r>
              <a:rPr lang="en-US" sz="12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●</a:t>
            </a: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电弧电压 (V) </a:t>
            </a:r>
            <a:r>
              <a:rPr lang="en-US" sz="12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●</a:t>
            </a: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焊接电流 (A)</a:t>
            </a:r>
            <a:endParaRPr lang="en-US" sz="1100"/>
          </a:p>
          <a:p>
            <a:pPr marL="0" indent="0" algn="l">
              <a:lnSpc>
                <a:spcPct val="183000"/>
              </a:lnSpc>
            </a:pPr>
            <a:r>
              <a:rPr lang="en-US" sz="12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●</a:t>
            </a: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焊接速度 (cm/min) </a:t>
            </a:r>
            <a:r>
              <a:rPr lang="en-US" sz="12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●</a:t>
            </a: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送丝速度 (m/min)</a:t>
            </a:r>
            <a:endParaRPr lang="en-US" sz="12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83000"/>
              </a:lnSpc>
            </a:pPr>
            <a:r>
              <a:rPr lang="en-US" sz="12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●</a:t>
            </a: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气体流量 (L/min) </a:t>
            </a:r>
            <a:r>
              <a:rPr lang="en-US" sz="12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●</a:t>
            </a: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焊枪角度 (°)</a:t>
            </a:r>
            <a:endParaRPr lang="en-US" sz="12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83000"/>
              </a:lnSpc>
            </a:pPr>
            <a:r>
              <a:rPr lang="en-US" sz="12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●</a:t>
            </a: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母材温度 (°C)</a:t>
            </a:r>
            <a:endParaRPr lang="en-US" sz="12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0"/>
            </a:avLst>
          </a:prstGeom>
          <a:solidFill>
            <a:srgbClr val="C9A66B">
              <a:alpha val="8000"/>
            </a:srgbClr>
          </a:solidFill>
          <a:ln w="12700" cap="flat" cmpd="sng">
            <a:solidFill>
              <a:srgbClr val="C9A66B">
                <a:alpha val="3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016000" y="5232400"/>
            <a:ext cx="254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数据预处理流程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016000" y="55626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数据归一化处理（统一量纲） → 7:3分层抽样划分（训练集210 / 测试集90） → 保留正负样本比例一致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6286500"/>
            <a:ext cx="1066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05 / 数据资源构建</a:t>
            </a:r>
            <a:endParaRPr lang="en-US" sz="1100"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778000"/>
            <a:ext cx="5079365" cy="21456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57200"/>
            <a:ext cx="635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算法模块：随机森林分类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041400"/>
            <a:ext cx="508000" cy="381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2413000" cy="10160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889000" y="15240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72.2%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2057400"/>
            <a:ext cx="2159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FFFFFF">
                    <a:alpha val="70196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准确率 Accuracy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2603500"/>
            <a:ext cx="2413000" cy="101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889000" y="27305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75.9%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889000" y="3263900"/>
            <a:ext cx="2159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召回率 Recall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3810000"/>
            <a:ext cx="2413000" cy="101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89000" y="39370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70.4%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89000" y="4470400"/>
            <a:ext cx="2159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精确率 Precision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62000" y="5016500"/>
            <a:ext cx="2413000" cy="1016000"/>
          </a:xfrm>
          <a:prstGeom prst="roundRect">
            <a:avLst>
              <a:gd name="adj" fmla="val 0"/>
            </a:avLst>
          </a:prstGeom>
          <a:solidFill>
            <a:srgbClr val="C9A66B">
              <a:alpha val="15000"/>
            </a:srgbClr>
          </a:solidFill>
          <a:ln w="12700" cap="flat" cmpd="sng">
            <a:solidFill>
              <a:srgbClr val="C9A66B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889000" y="51435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73.0%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89000" y="5676900"/>
            <a:ext cx="2159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F1-Score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3810000" y="1397000"/>
            <a:ext cx="254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混淆矩阵（测试集90条）</a:t>
            </a:r>
            <a:endParaRPr lang="en-US" sz="1100"/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810000" y="1778000"/>
          <a:ext cx="3556000" cy="1524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16000"/>
                <a:gridCol w="1270000"/>
                <a:gridCol w="1270000"/>
              </a:tblGrid>
              <a:tr h="381000">
                <a:tc>
                  <a:txBody>
                    <a:bodyPr rtlCol="0"/>
                    <a:lstStyle/>
                    <a:p>
                      <a:pPr algn="ctr">
                        <a:defRPr/>
                      </a:pPr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预测正常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预测缺陷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实际正常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5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4C7A5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27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C7A5A">
                        <a:alpha val="15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C9A66B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19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9A66B">
                        <a:alpha val="15000"/>
                      </a:srgbClr>
                    </a:solidFill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实际缺陷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5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C9A66B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15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9A66B">
                        <a:alpha val="15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4C7A5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29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C7A5A">
                        <a:alpha val="15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9" name="AutoShape 19"/>
          <p:cNvSpPr/>
          <p:nvPr/>
        </p:nvSpPr>
        <p:spPr>
          <a:xfrm>
            <a:off x="7874000" y="1397000"/>
            <a:ext cx="254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特征重要性 Top5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874000" y="1841500"/>
            <a:ext cx="76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电弧电压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763000" y="1866900"/>
            <a:ext cx="2070100" cy="1778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10896600" y="1841500"/>
            <a:ext cx="508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16.3%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7874000" y="2159000"/>
            <a:ext cx="76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焊枪角度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763000" y="2184400"/>
            <a:ext cx="1968500" cy="177800"/>
          </a:xfrm>
          <a:prstGeom prst="roundRect">
            <a:avLst>
              <a:gd name="adj" fmla="val 0"/>
            </a:avLst>
          </a:prstGeom>
          <a:solidFill>
            <a:srgbClr val="0D1B2A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10795000" y="2159000"/>
            <a:ext cx="508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15.6%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874000" y="2476500"/>
            <a:ext cx="76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送丝速度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763000" y="2501900"/>
            <a:ext cx="1905000" cy="177800"/>
          </a:xfrm>
          <a:prstGeom prst="roundRect">
            <a:avLst>
              <a:gd name="adj" fmla="val 0"/>
            </a:avLst>
          </a:prstGeom>
          <a:solidFill>
            <a:srgbClr val="0D1B2A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10731500" y="2476500"/>
            <a:ext cx="508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15.1%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874000" y="2794000"/>
            <a:ext cx="76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气体流量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763000" y="2819400"/>
            <a:ext cx="1803400" cy="177800"/>
          </a:xfrm>
          <a:prstGeom prst="roundRect">
            <a:avLst>
              <a:gd name="adj" fmla="val 0"/>
            </a:avLst>
          </a:prstGeom>
          <a:solidFill>
            <a:srgbClr val="0D1B2A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10629900" y="2794000"/>
            <a:ext cx="508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14.2%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7874000" y="3111500"/>
            <a:ext cx="76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焊接电流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8763000" y="3136900"/>
            <a:ext cx="1714500" cy="177800"/>
          </a:xfrm>
          <a:prstGeom prst="roundRect">
            <a:avLst>
              <a:gd name="adj" fmla="val 0"/>
            </a:avLst>
          </a:prstGeom>
          <a:solidFill>
            <a:srgbClr val="0D1B2A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10541000" y="3111500"/>
            <a:ext cx="508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13.5%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3810000" y="3835400"/>
            <a:ext cx="7620000" cy="1758315"/>
          </a:xfrm>
          <a:prstGeom prst="roundRect">
            <a:avLst>
              <a:gd name="adj" fmla="val 0"/>
            </a:avLst>
          </a:prstGeom>
          <a:solidFill>
            <a:srgbClr val="0D1B2A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6" name="AutoShape 36"/>
          <p:cNvSpPr/>
          <p:nvPr/>
        </p:nvSpPr>
        <p:spPr>
          <a:xfrm>
            <a:off x="4064000" y="4254500"/>
            <a:ext cx="7112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2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召回率高于精确率，模型更倾向于识别缺陷样本，符合质量控制场景"宁可误报不可漏检"的需求。</a:t>
            </a:r>
            <a:endParaRPr lang="en-US" sz="2000"/>
          </a:p>
          <a:p>
            <a:pPr marL="0" indent="0" algn="l">
              <a:lnSpc>
                <a:spcPct val="133000"/>
              </a:lnSpc>
            </a:pPr>
            <a:r>
              <a:rPr lang="en-US" sz="2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各参数重要性分布均匀，说明焊接缺陷是多因素耦合的结果。</a:t>
            </a:r>
            <a:endParaRPr lang="en-US" sz="20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762000" y="6286500"/>
            <a:ext cx="1066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06 / 算法模型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57200"/>
            <a:ext cx="635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系统功能实现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041400"/>
            <a:ext cx="508000" cy="381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762000" y="1397000"/>
            <a:ext cx="25400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>
            <p:custDataLst>
              <p:tags r:id="rId2"/>
            </p:custDataLst>
          </p:nvPr>
        </p:nvSpPr>
        <p:spPr>
          <a:xfrm>
            <a:off x="952500" y="1549400"/>
            <a:ext cx="381000" cy="3810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3"/>
            </p:custDataLst>
          </p:nvPr>
        </p:nvSpPr>
        <p:spPr>
          <a:xfrm>
            <a:off x="1460500" y="1600200"/>
            <a:ext cx="177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智能缺陷预测</a:t>
            </a:r>
            <a:endParaRPr lang="en-US" sz="1100"/>
          </a:p>
        </p:txBody>
      </p:sp>
      <p:sp>
        <p:nvSpPr>
          <p:cNvPr id="8" name="AutoShape 8"/>
          <p:cNvSpPr/>
          <p:nvPr>
            <p:custDataLst>
              <p:tags r:id="rId4"/>
            </p:custDataLst>
          </p:nvPr>
        </p:nvSpPr>
        <p:spPr>
          <a:xfrm>
            <a:off x="952500" y="2032000"/>
            <a:ext cx="215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随机森林模型输出缺陷概率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三级风险判定：低/中/高风险</a:t>
            </a:r>
            <a:endParaRPr lang="en-US" sz="10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避免非黑即白的绝对化结论</a:t>
            </a:r>
            <a:endParaRPr lang="en-US" sz="10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9" name="AutoShape 9"/>
          <p:cNvSpPr/>
          <p:nvPr>
            <p:custDataLst>
              <p:tags r:id="rId5"/>
            </p:custDataLst>
          </p:nvPr>
        </p:nvSpPr>
        <p:spPr>
          <a:xfrm>
            <a:off x="3556000" y="1397000"/>
            <a:ext cx="25400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>
            <p:custDataLst>
              <p:tags r:id="rId6"/>
            </p:custDataLst>
          </p:nvPr>
        </p:nvSpPr>
        <p:spPr>
          <a:xfrm>
            <a:off x="3746500" y="1549400"/>
            <a:ext cx="381000" cy="3810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7"/>
            </p:custDataLst>
          </p:nvPr>
        </p:nvSpPr>
        <p:spPr>
          <a:xfrm>
            <a:off x="4254500" y="1600200"/>
            <a:ext cx="177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参数优化建议</a:t>
            </a:r>
            <a:endParaRPr lang="en-US" sz="1100"/>
          </a:p>
        </p:txBody>
      </p:sp>
      <p:sp>
        <p:nvSpPr>
          <p:cNvPr id="12" name="AutoShape 12"/>
          <p:cNvSpPr/>
          <p:nvPr>
            <p:custDataLst>
              <p:tags r:id="rId8"/>
            </p:custDataLst>
          </p:nvPr>
        </p:nvSpPr>
        <p:spPr>
          <a:xfrm>
            <a:off x="3746500" y="2032000"/>
            <a:ext cx="215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坐标下降法搜索最优参数组合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给出每项参数具体调整数值</a:t>
            </a:r>
            <a:endParaRPr lang="en-US" sz="10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一键应用，缺陷概率可降80%+</a:t>
            </a:r>
            <a:endParaRPr lang="en-US" sz="10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9"/>
            </p:custDataLst>
          </p:nvPr>
        </p:nvSpPr>
        <p:spPr>
          <a:xfrm>
            <a:off x="6350000" y="1397000"/>
            <a:ext cx="25400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>
            <p:custDataLst>
              <p:tags r:id="rId10"/>
            </p:custDataLst>
          </p:nvPr>
        </p:nvSpPr>
        <p:spPr>
          <a:xfrm>
            <a:off x="6540500" y="1549400"/>
            <a:ext cx="381000" cy="3810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15" name="AutoShape 15"/>
          <p:cNvSpPr/>
          <p:nvPr>
            <p:custDataLst>
              <p:tags r:id="rId11"/>
            </p:custDataLst>
          </p:nvPr>
        </p:nvSpPr>
        <p:spPr>
          <a:xfrm>
            <a:off x="7048500" y="1600200"/>
            <a:ext cx="177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批量预测与管理</a:t>
            </a:r>
            <a:endParaRPr lang="en-US" sz="1100"/>
          </a:p>
        </p:txBody>
      </p:sp>
      <p:sp>
        <p:nvSpPr>
          <p:cNvPr id="16" name="AutoShape 16"/>
          <p:cNvSpPr/>
          <p:nvPr>
            <p:custDataLst>
              <p:tags r:id="rId12"/>
            </p:custDataLst>
          </p:nvPr>
        </p:nvSpPr>
        <p:spPr>
          <a:xfrm>
            <a:off x="6540500" y="2032000"/>
            <a:ext cx="215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CSV导入，支持中英文列名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历史记录按批次折叠展示</a:t>
            </a:r>
            <a:endParaRPr lang="en-US" sz="10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预测结果可导出CSV</a:t>
            </a:r>
            <a:endParaRPr lang="en-US" sz="10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17" name="AutoShape 17"/>
          <p:cNvSpPr/>
          <p:nvPr>
            <p:custDataLst>
              <p:tags r:id="rId13"/>
            </p:custDataLst>
          </p:nvPr>
        </p:nvSpPr>
        <p:spPr>
          <a:xfrm>
            <a:off x="9144000" y="1397000"/>
            <a:ext cx="2540000" cy="17780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>
            <p:custDataLst>
              <p:tags r:id="rId14"/>
            </p:custDataLst>
          </p:nvPr>
        </p:nvSpPr>
        <p:spPr>
          <a:xfrm>
            <a:off x="9334500" y="1549400"/>
            <a:ext cx="381000" cy="3810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sp>
        <p:nvSpPr>
          <p:cNvPr id="19" name="AutoShape 19"/>
          <p:cNvSpPr/>
          <p:nvPr>
            <p:custDataLst>
              <p:tags r:id="rId15"/>
            </p:custDataLst>
          </p:nvPr>
        </p:nvSpPr>
        <p:spPr>
          <a:xfrm>
            <a:off x="9842500" y="1600200"/>
            <a:ext cx="177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数据分析与建议</a:t>
            </a:r>
            <a:endParaRPr lang="en-US" sz="1100"/>
          </a:p>
        </p:txBody>
      </p:sp>
      <p:sp>
        <p:nvSpPr>
          <p:cNvPr id="20" name="AutoShape 20"/>
          <p:cNvSpPr/>
          <p:nvPr>
            <p:custDataLst>
              <p:tags r:id="rId16"/>
            </p:custDataLst>
          </p:nvPr>
        </p:nvSpPr>
        <p:spPr>
          <a:xfrm>
            <a:off x="9334500" y="2032000"/>
            <a:ext cx="215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FFFFFF">
                    <a:alpha val="8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特征重要性柱状图+分布饼图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FFFFFF">
                    <a:alpha val="8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自动生成智能工艺建议</a:t>
            </a:r>
            <a:endParaRPr lang="en-US" sz="1000" b="0" i="0" u="none" strike="noStrike">
              <a:solidFill>
                <a:srgbClr val="FFFFFF">
                  <a:alpha val="80000"/>
                </a:srgbClr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FFFFFF">
                    <a:alpha val="8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历史记录统计与趋势分析</a:t>
            </a:r>
            <a:endParaRPr lang="en-US" sz="1000" b="0" i="0" u="none" strike="noStrike">
              <a:solidFill>
                <a:srgbClr val="FFFFFF">
                  <a:alpha val="80000"/>
                </a:srgbClr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762000" y="3556000"/>
            <a:ext cx="10668000" cy="12700"/>
          </a:xfrm>
          <a:prstGeom prst="roundRect">
            <a:avLst>
              <a:gd name="adj" fmla="val 0"/>
            </a:avLst>
          </a:prstGeom>
          <a:solidFill>
            <a:srgbClr val="DCDCD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2" name="AutoShape 32"/>
          <p:cNvSpPr/>
          <p:nvPr/>
        </p:nvSpPr>
        <p:spPr>
          <a:xfrm>
            <a:off x="762000" y="6223000"/>
            <a:ext cx="1066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07 / 系统功能实现</a:t>
            </a:r>
            <a:endParaRPr lang="en-US" sz="1100"/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39205" y="3695065"/>
            <a:ext cx="5281295" cy="2688590"/>
          </a:xfrm>
          <a:prstGeom prst="rect">
            <a:avLst/>
          </a:prstGeom>
        </p:spPr>
      </p:pic>
      <p:pic>
        <p:nvPicPr>
          <p:cNvPr id="37" name="图片 3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2000" y="3695065"/>
            <a:ext cx="4938395" cy="26879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57200"/>
            <a:ext cx="635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测试与集成调试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041400"/>
            <a:ext cx="508000" cy="381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333500"/>
            <a:ext cx="2540000" cy="15240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524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18/18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3495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8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自动化测试全部通过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887730" y="31242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测试覆盖模块</a:t>
            </a:r>
            <a:endParaRPr lang="en-US" sz="2400"/>
          </a:p>
        </p:txBody>
      </p:sp>
      <p:sp>
        <p:nvSpPr>
          <p:cNvPr id="9" name="AutoShape 9"/>
          <p:cNvSpPr/>
          <p:nvPr/>
        </p:nvSpPr>
        <p:spPr>
          <a:xfrm>
            <a:off x="762000" y="3962400"/>
            <a:ext cx="2540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1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✓ </a:t>
            </a:r>
            <a:r>
              <a:rPr lang="en-US" sz="18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模型加载与预测接口</a:t>
            </a:r>
            <a:endParaRPr lang="en-US" sz="1800"/>
          </a:p>
          <a:p>
            <a:pPr marL="0" indent="0" algn="l">
              <a:lnSpc>
                <a:spcPct val="142000"/>
              </a:lnSpc>
            </a:pPr>
            <a:r>
              <a:rPr lang="en-US" sz="18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✓ 参数校验与异常处理</a:t>
            </a:r>
            <a:endParaRPr lang="en-US" sz="18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8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✓ 参数优化建议接口</a:t>
            </a:r>
            <a:endParaRPr lang="en-US" sz="18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8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✓ 批量预测CSV导入</a:t>
            </a:r>
            <a:endParaRPr lang="en-US" sz="18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8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✓ 历史记录CRUD操作</a:t>
            </a:r>
            <a:endParaRPr lang="en-US" sz="18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8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✓ 特征重要性与统计接口</a:t>
            </a:r>
            <a:endParaRPr lang="en-US" sz="18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8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✓ 智能建议与导出功能</a:t>
            </a:r>
            <a:endParaRPr lang="en-US" sz="18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3810000" y="13335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集成测试验证</a:t>
            </a:r>
            <a:endParaRPr lang="en-US" sz="1600"/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810000" y="1714500"/>
          <a:ext cx="3556000" cy="1524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270000"/>
                <a:gridCol w="1143000"/>
                <a:gridCol w="1143000"/>
              </a:tblGrid>
              <a:tr h="381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测试场景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风险等级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缺陷概率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正常工艺参数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4C7A5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低风险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4C7A5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11%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异常工艺参数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C9A66B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高风险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C9A66B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86%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AutoShape 12"/>
          <p:cNvSpPr/>
          <p:nvPr/>
        </p:nvSpPr>
        <p:spPr>
          <a:xfrm>
            <a:off x="3872865" y="3609975"/>
            <a:ext cx="3556000" cy="6064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64748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模型对正常与异常参数区分明显，三级风险判定符合预期</a:t>
            </a:r>
            <a:r>
              <a:rPr lang="en-US" sz="1000" b="0" i="0" u="none" strike="noStrike">
                <a:solidFill>
                  <a:srgbClr val="64748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064500" y="13335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调试问题与修复</a:t>
            </a:r>
            <a:endParaRPr lang="en-US" sz="1600"/>
          </a:p>
        </p:txBody>
      </p:sp>
      <p:sp>
        <p:nvSpPr>
          <p:cNvPr id="14" name="AutoShape 14"/>
          <p:cNvSpPr/>
          <p:nvPr>
            <p:custDataLst>
              <p:tags r:id="rId1"/>
            </p:custDataLst>
          </p:nvPr>
        </p:nvSpPr>
        <p:spPr>
          <a:xfrm>
            <a:off x="7874000" y="1714500"/>
            <a:ext cx="3556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>
            <p:custDataLst>
              <p:tags r:id="rId2"/>
            </p:custDataLst>
          </p:nvPr>
        </p:nvSpPr>
        <p:spPr>
          <a:xfrm>
            <a:off x="8064500" y="1841500"/>
            <a:ext cx="3175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问题1：非JSON请求返回500</a:t>
            </a:r>
            <a:endParaRPr lang="en-US"/>
          </a:p>
        </p:txBody>
      </p:sp>
      <p:sp>
        <p:nvSpPr>
          <p:cNvPr id="16" name="AutoShape 16"/>
          <p:cNvSpPr/>
          <p:nvPr>
            <p:custDataLst>
              <p:tags r:id="rId3"/>
            </p:custDataLst>
          </p:nvPr>
        </p:nvSpPr>
        <p:spPr>
          <a:xfrm>
            <a:off x="8064500" y="2095500"/>
            <a:ext cx="317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修复：改用 get_json(silent=True)，空请求返回400而非500。</a:t>
            </a:r>
            <a:endParaRPr lang="en-US"/>
          </a:p>
        </p:txBody>
      </p:sp>
      <p:sp>
        <p:nvSpPr>
          <p:cNvPr id="17" name="AutoShape 17"/>
          <p:cNvSpPr/>
          <p:nvPr>
            <p:custDataLst>
              <p:tags r:id="rId4"/>
            </p:custDataLst>
          </p:nvPr>
        </p:nvSpPr>
        <p:spPr>
          <a:xfrm>
            <a:off x="7874000" y="2921000"/>
            <a:ext cx="3556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>
            <p:custDataLst>
              <p:tags r:id="rId5"/>
            </p:custDataLst>
          </p:nvPr>
        </p:nvSpPr>
        <p:spPr>
          <a:xfrm>
            <a:off x="8064500" y="3048000"/>
            <a:ext cx="3175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问题2：特征名不匹配报错</a:t>
            </a:r>
            <a:endParaRPr lang="en-US"/>
          </a:p>
        </p:txBody>
      </p:sp>
      <p:sp>
        <p:nvSpPr>
          <p:cNvPr id="19" name="AutoShape 19"/>
          <p:cNvSpPr/>
          <p:nvPr>
            <p:custDataLst>
              <p:tags r:id="rId6"/>
            </p:custDataLst>
          </p:nvPr>
        </p:nvSpPr>
        <p:spPr>
          <a:xfrm>
            <a:off x="8064500" y="3302000"/>
            <a:ext cx="317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修复：引入feature_map.json映射原始列名，保留特征名。</a:t>
            </a:r>
            <a:endParaRPr lang="en-US"/>
          </a:p>
        </p:txBody>
      </p:sp>
      <p:sp>
        <p:nvSpPr>
          <p:cNvPr id="20" name="AutoShape 20"/>
          <p:cNvSpPr/>
          <p:nvPr>
            <p:custDataLst>
              <p:tags r:id="rId7"/>
            </p:custDataLst>
          </p:nvPr>
        </p:nvSpPr>
        <p:spPr>
          <a:xfrm>
            <a:off x="7874000" y="4127500"/>
            <a:ext cx="3556000" cy="10795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>
            <p:custDataLst>
              <p:tags r:id="rId8"/>
            </p:custDataLst>
          </p:nvPr>
        </p:nvSpPr>
        <p:spPr>
          <a:xfrm>
            <a:off x="8064500" y="4254500"/>
            <a:ext cx="3175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问题3：批量预测列名不识别</a:t>
            </a:r>
            <a:endParaRPr lang="en-US"/>
          </a:p>
        </p:txBody>
      </p:sp>
      <p:sp>
        <p:nvSpPr>
          <p:cNvPr id="22" name="AutoShape 22"/>
          <p:cNvSpPr/>
          <p:nvPr>
            <p:custDataLst>
              <p:tags r:id="rId9"/>
            </p:custDataLst>
          </p:nvPr>
        </p:nvSpPr>
        <p:spPr>
          <a:xfrm>
            <a:off x="8064500" y="4508500"/>
            <a:ext cx="317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b="0" i="0" u="none" strike="noStrike">
                <a:solidFill>
                  <a:srgbClr val="FFFFFF">
                    <a:alpha val="8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修复：扩展列名映射，支持中英文及多种命名变体。</a:t>
            </a:r>
            <a:endParaRPr lang="en-US"/>
          </a:p>
        </p:txBody>
      </p:sp>
      <p:sp>
        <p:nvSpPr>
          <p:cNvPr id="23" name="AutoShape 23"/>
          <p:cNvSpPr/>
          <p:nvPr/>
        </p:nvSpPr>
        <p:spPr>
          <a:xfrm>
            <a:off x="762000" y="6273800"/>
            <a:ext cx="1066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08 / 测试与集成调试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57200"/>
            <a:ext cx="635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总结与展望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041400"/>
            <a:ext cx="508000" cy="381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3335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已完成工作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1714500"/>
            <a:ext cx="5080000" cy="355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67000"/>
              </a:lnSpc>
              <a:defRPr/>
            </a:pPr>
            <a:r>
              <a:rPr lang="en-US" sz="13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01</a:t>
            </a:r>
            <a:r>
              <a:rPr lang="en-US" sz="13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B/S架构焊接缺陷预测系统全栈开发</a:t>
            </a:r>
            <a:endParaRPr lang="en-US" sz="1100"/>
          </a:p>
          <a:p>
            <a:pPr marL="0" indent="0" algn="l">
              <a:lnSpc>
                <a:spcPct val="167000"/>
              </a:lnSpc>
            </a:pPr>
            <a:r>
              <a:rPr lang="en-US" sz="13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02</a:t>
            </a:r>
            <a:r>
              <a:rPr lang="en-US" sz="13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随机森林模型，准确率72.2%，召回率75.9%</a:t>
            </a:r>
            <a:endParaRPr lang="en-US" sz="13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67000"/>
              </a:lnSpc>
            </a:pPr>
            <a:r>
              <a:rPr lang="en-US" sz="13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03</a:t>
            </a:r>
            <a:r>
              <a:rPr lang="en-US" sz="13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9个API接口，含优化、批量、智能建议</a:t>
            </a:r>
            <a:endParaRPr lang="en-US" sz="13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67000"/>
              </a:lnSpc>
            </a:pPr>
            <a:r>
              <a:rPr lang="en-US" sz="13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04</a:t>
            </a:r>
            <a:r>
              <a:rPr lang="en-US" sz="13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三级风险判定，工业风前端，ECharts可视化</a:t>
            </a:r>
            <a:endParaRPr lang="en-US" sz="13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67000"/>
              </a:lnSpc>
            </a:pPr>
            <a:r>
              <a:rPr lang="en-US" sz="13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05</a:t>
            </a:r>
            <a:r>
              <a:rPr lang="en-US" sz="13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18项自动化测试全部通过，集成验证正常</a:t>
            </a:r>
            <a:endParaRPr lang="en-US" sz="13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67000"/>
              </a:lnSpc>
            </a:pPr>
            <a:r>
              <a:rPr lang="en-US" sz="1300" b="1" i="0" u="none" strike="noStrike">
                <a:solidFill>
                  <a:srgbClr val="C9A66B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06</a:t>
            </a:r>
            <a:r>
              <a:rPr lang="en-US" sz="13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 代码推送GitHub，一键启动脚本部署</a:t>
            </a:r>
            <a:endParaRPr lang="en-US" sz="13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cxnSp>
        <p:nvCxnSpPr>
          <p:cNvPr id="7" name="Connector 7"/>
          <p:cNvCxnSpPr/>
          <p:nvPr/>
        </p:nvCxnSpPr>
        <p:spPr>
          <a:xfrm rot="5389738">
            <a:off x="4210050" y="3454409"/>
            <a:ext cx="4254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6858000" y="13335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不足之处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858000" y="17145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· 数据集为合成数据，规模仅300条，泛化能力有限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· 准确率72.2%仍有提升空间，未做超参数调优</a:t>
            </a:r>
            <a:endParaRPr lang="en-US" sz="12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· 仅支持二分类，未区分气孔、未熔合等缺陷类型</a:t>
            </a:r>
            <a:endParaRPr lang="en-US" sz="12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858000" y="3302000"/>
            <a:ext cx="4572000" cy="381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6858000" y="3556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未来展望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858000" y="3937000"/>
            <a:ext cx="4572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→ 采集真实焊接工艺数据，扩充数据集规模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→ 尝试XGBoost、深度学习等模型，对比优化性能</a:t>
            </a:r>
            <a:endParaRPr lang="en-US" sz="12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→ 扩展多分类缺陷识别，支持缺陷类型细分</a:t>
            </a:r>
            <a:endParaRPr lang="en-US" sz="12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465667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→ 接入实时传感器数据，实现在线监控预警</a:t>
            </a:r>
            <a:endParaRPr lang="en-US" sz="1200" b="0" i="0" u="none" strike="noStrike">
              <a:solidFill>
                <a:srgbClr val="465667"/>
              </a:solidFill>
              <a:latin typeface="Noto Serif SC" panose="02020200000000000000" charset="-122"/>
              <a:ea typeface="Noto Serif SC" panose="02020200000000000000" charset="-122"/>
              <a:cs typeface="Noto Serif SC" panose="02020200000000000000" charset="-122"/>
              <a:sym typeface="Noto Serif SC" panose="0202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6286500"/>
            <a:ext cx="1066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09 / 总结与展望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588000" y="2286000"/>
            <a:ext cx="1016000" cy="508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2286000" y="2667000"/>
            <a:ext cx="762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5600" b="1" i="0" u="none" strike="noStrike">
                <a:solidFill>
                  <a:srgbClr val="FFFFFF"/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感谢聆听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2286000" y="38100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9A66B">
                    <a:alpha val="8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THANK YOU FOR YOUR ATTENTION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2286000" y="44450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60000"/>
                  </a:srgbClr>
                </a:solidFill>
                <a:latin typeface="Noto Serif SC" panose="02020200000000000000" charset="-122"/>
                <a:ea typeface="Noto Serif SC" panose="02020200000000000000" charset="-122"/>
                <a:cs typeface="Noto Serif SC" panose="02020200000000000000" charset="-122"/>
                <a:sym typeface="Noto Serif SC" panose="02020200000000000000" charset="-122"/>
              </a:rPr>
              <a:t>敬请各位老师批评指正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0" y="6819900"/>
            <a:ext cx="12192000" cy="38100"/>
          </a:xfrm>
          <a:prstGeom prst="roundRect">
            <a:avLst>
              <a:gd name="adj" fmla="val 0"/>
            </a:avLst>
          </a:prstGeom>
          <a:solidFill>
            <a:srgbClr val="C9A66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2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3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4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5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6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7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8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9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10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11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12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13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14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15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16.xml><?xml version="1.0" encoding="utf-8"?>
<p:tagLst xmlns:p="http://schemas.openxmlformats.org/presentationml/2006/main">
  <p:tag name="KSO_WM_DIAGRAM_VIRTUALLY_FRAME" val="{&quot;height&quot;:140,&quot;left&quot;:60,&quot;top&quot;:110,&quot;width&quot;:860}"/>
</p:tagLst>
</file>

<file path=ppt/tags/tag17.xml><?xml version="1.0" encoding="utf-8"?>
<p:tagLst xmlns:p="http://schemas.openxmlformats.org/presentationml/2006/main">
  <p:tag name="KSO_WM_DIAGRAM_VIRTUALLY_FRAME" val="{&quot;height&quot;:275,&quot;left&quot;:620,&quot;top&quot;:135,&quot;width&quot;:280}"/>
</p:tagLst>
</file>

<file path=ppt/tags/tag18.xml><?xml version="1.0" encoding="utf-8"?>
<p:tagLst xmlns:p="http://schemas.openxmlformats.org/presentationml/2006/main">
  <p:tag name="KSO_WM_DIAGRAM_VIRTUALLY_FRAME" val="{&quot;height&quot;:275,&quot;left&quot;:620,&quot;top&quot;:135,&quot;width&quot;:280}"/>
</p:tagLst>
</file>

<file path=ppt/tags/tag19.xml><?xml version="1.0" encoding="utf-8"?>
<p:tagLst xmlns:p="http://schemas.openxmlformats.org/presentationml/2006/main">
  <p:tag name="KSO_WM_DIAGRAM_VIRTUALLY_FRAME" val="{&quot;height&quot;:275,&quot;left&quot;:620,&quot;top&quot;:135,&quot;width&quot;:280}"/>
</p:tagLst>
</file>

<file path=ppt/tags/tag20.xml><?xml version="1.0" encoding="utf-8"?>
<p:tagLst xmlns:p="http://schemas.openxmlformats.org/presentationml/2006/main">
  <p:tag name="KSO_WM_DIAGRAM_VIRTUALLY_FRAME" val="{&quot;height&quot;:275,&quot;left&quot;:620,&quot;top&quot;:135,&quot;width&quot;:280}"/>
</p:tagLst>
</file>

<file path=ppt/tags/tag21.xml><?xml version="1.0" encoding="utf-8"?>
<p:tagLst xmlns:p="http://schemas.openxmlformats.org/presentationml/2006/main">
  <p:tag name="KSO_WM_DIAGRAM_VIRTUALLY_FRAME" val="{&quot;height&quot;:275,&quot;left&quot;:620,&quot;top&quot;:135,&quot;width&quot;:280}"/>
</p:tagLst>
</file>

<file path=ppt/tags/tag22.xml><?xml version="1.0" encoding="utf-8"?>
<p:tagLst xmlns:p="http://schemas.openxmlformats.org/presentationml/2006/main">
  <p:tag name="KSO_WM_DIAGRAM_VIRTUALLY_FRAME" val="{&quot;height&quot;:275,&quot;left&quot;:620,&quot;top&quot;:135,&quot;width&quot;:280}"/>
</p:tagLst>
</file>

<file path=ppt/tags/tag23.xml><?xml version="1.0" encoding="utf-8"?>
<p:tagLst xmlns:p="http://schemas.openxmlformats.org/presentationml/2006/main">
  <p:tag name="KSO_WM_DIAGRAM_VIRTUALLY_FRAME" val="{&quot;height&quot;:275,&quot;left&quot;:620,&quot;top&quot;:135,&quot;width&quot;:280}"/>
</p:tagLst>
</file>

<file path=ppt/tags/tag24.xml><?xml version="1.0" encoding="utf-8"?>
<p:tagLst xmlns:p="http://schemas.openxmlformats.org/presentationml/2006/main">
  <p:tag name="KSO_WM_DIAGRAM_VIRTUALLY_FRAME" val="{&quot;height&quot;:275,&quot;left&quot;:620,&quot;top&quot;:135,&quot;width&quot;:280}"/>
</p:tagLst>
</file>

<file path=ppt/tags/tag25.xml><?xml version="1.0" encoding="utf-8"?>
<p:tagLst xmlns:p="http://schemas.openxmlformats.org/presentationml/2006/main">
  <p:tag name="KSO_WM_DIAGRAM_VIRTUALLY_FRAME" val="{&quot;height&quot;:275,&quot;left&quot;:620,&quot;top&quot;:135,&quot;width&quot;:28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2430</Words>
  <Application>WPS 演示</Application>
  <PresentationFormat/>
  <Paragraphs>339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宋体</vt:lpstr>
      <vt:lpstr>Wingdings</vt:lpstr>
      <vt:lpstr>Arial</vt:lpstr>
      <vt:lpstr>Noto Serif SC</vt:lpstr>
      <vt:lpstr>Noto Sans SC</vt:lpstr>
      <vt:lpstr>微软雅黑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李旺</cp:lastModifiedBy>
  <cp:revision>5</cp:revision>
  <dcterms:created xsi:type="dcterms:W3CDTF">2026-09-03T09:12:00Z</dcterms:created>
  <dcterms:modified xsi:type="dcterms:W3CDTF">2026-09-03T15:24:31Z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2052-12.1.0.28022</vt:lpwstr>
  </property>
  <property fmtid="{D5CDD505-2E9C-101B-9397-08002B2CF9AE}" pid="3" name="ICV">
    <vt:lpwstr>21AA1E5A08FC471FB6480D3DB4752276_12</vt:lpwstr>
  </property>
</Properties>
</file>